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2.xml"/><Relationship Id="rId4" Type="http://schemas.openxmlformats.org/officeDocument/2006/relationships/slide" Target="slide6.xml"/><Relationship Id="rId5" Type="http://schemas.openxmlformats.org/officeDocument/2006/relationships/slide" Target="slide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light-refract/mv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light-lens/lab.html#lesso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treasure.pdf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light-refract/mv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games/taiwan-train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games/light-refract-quiz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treasure.pdf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slide" Target="slide1.xml"/><Relationship Id="rId4" Type="http://schemas.openxmlformats.org/officeDocument/2006/relationships/hyperlink" Target="https://hccadaptive.com/f8f9fc3bd1/draw.pdf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i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92000"/>
                </a:srgbClr>
              </a:gs>
              <a:gs pos="50000">
                <a:srgbClr val="05090F">
                  <a:alpha val="82000"/>
                </a:srgbClr>
              </a:gs>
              <a:gs pos="100000">
                <a:srgbClr val="05090F">
                  <a:alpha val="6000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48640"/>
            <a:ext cx="9144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325880"/>
            <a:ext cx="9144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光線特勤隊・今天三節課</a:t>
            </a:r>
          </a:p>
        </p:txBody>
      </p:sp>
      <p:sp>
        <p:nvSpPr>
          <p:cNvPr id="6" name="TextBox 5">
            <a:hlinkClick action="ppaction://hlinksldjump" r:id="rId3"/>
          </p:cNvPr>
          <p:cNvSpPr txBox="1"/>
          <p:nvPr/>
        </p:nvSpPr>
        <p:spPr>
          <a:xfrm>
            <a:off x="685800" y="233172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4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721608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　透鏡實驗室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379976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926080"/>
            <a:ext cx="3291839" cy="0"/>
          </a:xfrm>
          <a:prstGeom prst="line">
            <a:avLst/>
          </a:prstGeom>
          <a:ln w="19050">
            <a:solidFill>
              <a:srgbClr val="FFC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hlinkClick action="ppaction://hlinksldjump" r:id="rId4"/>
          </p:cNvPr>
          <p:cNvSpPr txBox="1"/>
          <p:nvPr/>
        </p:nvSpPr>
        <p:spPr>
          <a:xfrm>
            <a:off x="4434840" y="233172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306324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721608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4379976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　折射大搶答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34840" y="2926080"/>
            <a:ext cx="3291839" cy="0"/>
          </a:xfrm>
          <a:prstGeom prst="line">
            <a:avLst/>
          </a:prstGeom>
          <a:ln w="19050">
            <a:solidFill>
              <a:srgbClr val="FFC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5"/>
          </p:cNvPr>
          <p:cNvSpPr txBox="1"/>
          <p:nvPr/>
        </p:nvSpPr>
        <p:spPr>
          <a:xfrm>
            <a:off x="8183879" y="233172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06324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　生活裡的折射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721608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　水滴放大鏡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4379976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　我看到的光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83879" y="2926080"/>
            <a:ext cx="3291840" cy="0"/>
          </a:xfrm>
          <a:prstGeom prst="line">
            <a:avLst/>
          </a:prstGeom>
          <a:ln w="19050">
            <a:solidFill>
              <a:srgbClr val="FFC2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13232" y="58064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點班級名稱可以直接跳到那一節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ier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今天的課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甲班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第 5 節　13:10–13:55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493776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MV〈折一下 Snap!〉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95928"/>
            <a:ext cx="493776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透鏡實驗室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37176"/>
            <a:ext cx="493776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放大鏡尋寶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40"/>
                            </p:stCondLst>
                            <p:childTnLst>
                              <p:par>
                                <p:cTn id="1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id="2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aser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甲班・1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08960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gnifi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甲班・2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放大鏡的中間，是厚的還是薄的？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中間厚 → 讓光換方向 → 東西看起來變大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reasure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甲班・3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 星　找到 4 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58184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 星　找到 8 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44568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 星　寫一句：放大鏡讓＿＿變大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尋寶單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5870448"/>
            <a:ext cx="68580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放大鏡不對著太陽、不對著別人的眼睛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rain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今天的課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乙班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第 6 節　14:05–14:50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493776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MV〈折一下 Snap!〉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95928"/>
            <a:ext cx="493776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光之環島列車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37176"/>
            <a:ext cx="493776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折射大搶答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40"/>
                            </p:stCondLst>
                            <p:childTnLst>
                              <p:par>
                                <p:cTn id="1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id="2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第6節・1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108960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E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iwan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875" y="0"/>
            <a:ext cx="514350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0"/>
                </a:srgbClr>
              </a:gs>
              <a:gs pos="50000">
                <a:srgbClr val="05090F">
                  <a:alpha val="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第6節・2 / 3</a:t>
            </a:r>
          </a:p>
        </p:txBody>
      </p:sp>
      <p:sp>
        <p:nvSpPr>
          <p:cNvPr id="6" name="TextBox 5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uzzer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第6節・3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折射大搶答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分兩隊，答錯沒關係，再想一次！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▶  開始搶答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今天的課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88720"/>
            <a:ext cx="73152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6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乙班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73152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第 7 節　15:00–15:45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493776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生活裡的折射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95928"/>
            <a:ext cx="493776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水滴放大鏡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837176"/>
            <a:ext cx="493776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我看到的光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740"/>
                            </p:stCondLst>
                            <p:childTnLst>
                              <p:par>
                                <p:cTn id="18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20"/>
                            </p:stCondLst>
                            <p:childTnLst>
                              <p:par>
                                <p:cTn id="23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ol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第7節・1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看起來淺淺的……真的淺嗎？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其實更深！光在水面折一下，池底看起來變淺了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net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第7節・1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魚看起來在這裡，網子要往哪裡撈？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再深一點！魚真正的位置比看起來深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第7節・1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水滴放在字上，字怎麼了？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657600"/>
            <a:ext cx="8412480" cy="868680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4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  字變大了！圓圓的水滴讓光換方向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op-text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第7節・2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自己做一個放大鏡！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1　透明片放在尋寶單的字上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758184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2　用滴管滴一滴水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44568"/>
            <a:ext cx="548640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/>
            <a:r>
              <a:rPr sz="2200" b="1">
                <a:solidFill>
                  <a:srgbClr val="111111"/>
                </a:solidFill>
                <a:latin typeface="微軟正黑體"/>
                <a:ea typeface="微軟正黑體"/>
                <a:cs typeface="微軟正黑體"/>
              </a:rPr>
              <a:t>  3　看！字變大了</a:t>
            </a:r>
          </a:p>
        </p:txBody>
      </p:sp>
      <p:sp>
        <p:nvSpPr>
          <p:cNvPr id="11" name="Rounded Rectangle 10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raw.jpg"/>
          <p:cNvPicPr>
            <a:picLocks noChangeAspect="1"/>
          </p:cNvPicPr>
          <p:nvPr/>
        </p:nvPicPr>
        <p:blipFill>
          <a:blip r:embed="rId2"/>
          <a:srcRect l="389" r="38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8000"/>
                </a:srgbClr>
              </a:gs>
              <a:gs pos="50000">
                <a:srgbClr val="05090F">
                  <a:alpha val="55000"/>
                </a:srgbClr>
              </a:gs>
              <a:gs pos="100000">
                <a:srgbClr val="05090F">
                  <a:alpha val="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50292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FC23D"/>
                </a:solidFill>
                <a:latin typeface="微軟正黑體"/>
                <a:ea typeface="微軟正黑體"/>
                <a:cs typeface="微軟正黑體"/>
              </a:rPr>
              <a:t>乙班 第7節・3 / 3</a:t>
            </a:r>
          </a:p>
        </p:txBody>
      </p:sp>
      <p:sp>
        <p:nvSpPr>
          <p:cNvPr id="5" name="TextBox 4">
            <a:hlinkClick action="ppaction://hlinksldjump" r:id="rId3"/>
          </p:cNvPr>
          <p:cNvSpPr txBox="1"/>
          <p:nvPr/>
        </p:nvSpPr>
        <p:spPr>
          <a:xfrm>
            <a:off x="10225735" y="457200"/>
            <a:ext cx="1463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676656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5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40279"/>
            <a:ext cx="6400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畫下今天最神奇的發現，再說一句話</a:t>
            </a:r>
          </a:p>
        </p:txBody>
      </p:sp>
      <p:sp>
        <p:nvSpPr>
          <p:cNvPr id="8" name="Rounded Rectangle 7">
            <a:hlinkClick r:id="rId4"/>
          </p:cNvPr>
          <p:cNvSpPr/>
          <p:nvPr/>
        </p:nvSpPr>
        <p:spPr>
          <a:xfrm>
            <a:off x="731520" y="5715000"/>
            <a:ext cx="3291840" cy="713232"/>
          </a:xfrm>
          <a:prstGeom prst="roundRect">
            <a:avLst>
              <a:gd name="adj" fmla="val 50000"/>
            </a:avLst>
          </a:prstGeom>
          <a:solidFill>
            <a:srgbClr val="FFC2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2200" b="1">
                <a:solidFill>
                  <a:srgbClr val="1A1200"/>
                </a:solidFill>
                <a:latin typeface="微軟正黑體"/>
                <a:ea typeface="微軟正黑體"/>
                <a:cs typeface="微軟正黑體"/>
              </a:rPr>
              <a:t>畫卡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6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tage.jpg"/>
          <p:cNvPicPr>
            <a:picLocks noChangeAspect="1"/>
          </p:cNvPicPr>
          <p:nvPr/>
        </p:nvPicPr>
        <p:blipFill>
          <a:blip r:embed="rId2"/>
          <a:srcRect l="390" r="390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gradFill rotWithShape="1">
            <a:gsLst>
              <a:gs pos="0">
                <a:srgbClr val="05090F">
                  <a:alpha val="80000"/>
                </a:srgbClr>
              </a:gs>
              <a:gs pos="50000">
                <a:srgbClr val="05090F">
                  <a:alpha val="60000"/>
                </a:srgbClr>
              </a:gs>
              <a:gs pos="100000">
                <a:srgbClr val="05090F">
                  <a:alpha val="30000"/>
                </a:srgbClr>
              </a:gs>
            </a:gsLst>
            <a:lin ang="0" scaled="0"/>
          </a:gradFill>
          <a:prstGeom prst="rect">
            <a:avLst/>
          </a:prstGeom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19456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D6DEE6"/>
                </a:solidFill>
                <a:latin typeface="微軟正黑體"/>
                <a:ea typeface="微軟正黑體"/>
                <a:cs typeface="微軟正黑體"/>
              </a:rPr>
              <a:t>今天的光線特勤隊，表現超棒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