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hccadaptive.com/f8f9fc3bd1/light-refract/mv.html" TargetMode="Externa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hccadaptive.com/f8f9fc3bd1/show/" TargetMode="Externa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image" Target="../media/image4.png"/><Relationship Id="rId4" Type="http://schemas.openxmlformats.org/officeDocument/2006/relationships/hyperlink" Target="https://hccadaptive.com/f8f9fc3bd1/treasure.pdf?v=100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hyperlink" Target="https://hccadaptive.com/f8f9fc3bd1/games/light-refract-quiz.html" TargetMode="Externa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光線特勤隊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10/16（五）自然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2057400"/>
            <a:ext cx="347472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asure.jpg"/>
          <p:cNvPicPr>
            <a:picLocks noChangeAspect="1"/>
          </p:cNvPicPr>
          <p:nvPr/>
        </p:nvPicPr>
        <p:blipFill>
          <a:blip r:embed="rId2"/>
          <a:srcRect t="6488" b="6488"/>
          <a:stretch>
            <a:fillRect/>
          </a:stretch>
        </p:blipFill>
        <p:spPr>
          <a:xfrm>
            <a:off x="4495647" y="2194560"/>
            <a:ext cx="3200400" cy="1554480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3"/>
          </p:cNvPr>
          <p:cNvSpPr txBox="1"/>
          <p:nvPr/>
        </p:nvSpPr>
        <p:spPr>
          <a:xfrm>
            <a:off x="4541367" y="3840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　第 5 節　13:10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1367" y="420624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1367" y="480060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1　MV〈折一下 Snap!〉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367" y="5175504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2　透鏡快問＋放大鏡偵探（含影片）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555040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3　放大鏡尋寶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5925312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4　折射環島搶答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甲班｜第 5 節　13:10–13:55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8521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7A8C"/>
                </a:solidFill>
                <a:latin typeface="微軟正黑體"/>
                <a:ea typeface="微軟正黑體"/>
                <a:cs typeface="微軟正黑體"/>
              </a:rPr>
              <a:t>今天的目標：說出放大鏡中間厚，讓東西看起來變大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6032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MV〈折一下 Snap!〉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00984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55263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透鏡快問＋放大鏡偵探（含影片）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95928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8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放大鏡尋寶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90872"/>
            <a:ext cx="457200" cy="45720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64515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折射環島搶答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準備：放大鏡、尋寶單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6867144" y="1097280"/>
            <a:ext cx="4754880" cy="48463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20000">
            <a:off x="6812280" y="1005840"/>
            <a:ext cx="475488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easure.jpg"/>
          <p:cNvPicPr>
            <a:picLocks noChangeAspect="1"/>
          </p:cNvPicPr>
          <p:nvPr/>
        </p:nvPicPr>
        <p:blipFill>
          <a:blip r:embed="rId3"/>
          <a:srcRect l="22645" r="22645"/>
          <a:stretch>
            <a:fillRect/>
          </a:stretch>
        </p:blipFill>
        <p:spPr>
          <a:xfrm rot="120000">
            <a:off x="6922008" y="1115568"/>
            <a:ext cx="4535424" cy="462686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"/>
                            </p:stCondLst>
                            <p:childTnLst>
                              <p:par>
                                <p:cTn id="2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"/>
                            </p:stCondLst>
                            <p:childTnLst>
                              <p:par>
                                <p:cTn id="2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0"/>
                            </p:stCondLst>
                            <p:childTnLst>
                              <p:par>
                                <p:cTn id="3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30"/>
                            </p:stCondLst>
                            <p:childTnLst>
                              <p:par>
                                <p:cTn id="3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0"/>
                            </p:stCondLst>
                            <p:childTnLst>
                              <p:par>
                                <p:cTn id="4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80"/>
                            </p:stCondLst>
                            <p:childTnLst>
                              <p:par>
                                <p:cTn id="4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30"/>
                            </p:stCondLst>
                            <p:childTnLst>
                              <p:par>
                                <p:cTn id="51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30"/>
                            </p:stCondLst>
                            <p:childTnLst>
                              <p:par>
                                <p:cTn id="56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甲班｜暖身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MV</a:t>
            </a:r>
          </a:p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〈折一下 Snap!〉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唱到 Snap，全班一起彈指！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播放 MV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mv.png"/>
          <p:cNvPicPr>
            <a:picLocks noChangeAspect="1"/>
          </p:cNvPicPr>
          <p:nvPr/>
        </p:nvPicPr>
        <p:blipFill>
          <a:blip r:embed="rId4"/>
          <a:srcRect l="21000" t="7000" r="21000" b="35000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甲班｜透鏡快問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放大鏡的鏡片，長什麼樣子？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783080"/>
            <a:ext cx="4846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692140" y="1965960"/>
            <a:ext cx="777240" cy="3108960"/>
          </a:xfrm>
          <a:custGeom>
            <a:avLst/>
            <a:gdLst/>
            <a:ahLst/>
            <a:cxnLst/>
            <a:rect l="l" t="t" r="r" b="b"/>
            <a:pathLst>
              <a:path w="777240" h="3108960">
                <a:moveTo>
                  <a:pt x="470916" y="0"/>
                </a:moveTo>
                <a:lnTo>
                  <a:pt x="519842" y="129540"/>
                </a:lnTo>
                <a:lnTo>
                  <a:pt x="564515" y="259080"/>
                </a:lnTo>
                <a:lnTo>
                  <a:pt x="604932" y="388620"/>
                </a:lnTo>
                <a:lnTo>
                  <a:pt x="641096" y="518160"/>
                </a:lnTo>
                <a:lnTo>
                  <a:pt x="673004" y="647700"/>
                </a:lnTo>
                <a:lnTo>
                  <a:pt x="700659" y="777240"/>
                </a:lnTo>
                <a:lnTo>
                  <a:pt x="724058" y="906780"/>
                </a:lnTo>
                <a:lnTo>
                  <a:pt x="743204" y="1036320"/>
                </a:lnTo>
                <a:lnTo>
                  <a:pt x="758094" y="1165860"/>
                </a:lnTo>
                <a:lnTo>
                  <a:pt x="768731" y="1295400"/>
                </a:lnTo>
                <a:lnTo>
                  <a:pt x="775112" y="1424940"/>
                </a:lnTo>
                <a:lnTo>
                  <a:pt x="777240" y="1554480"/>
                </a:lnTo>
                <a:lnTo>
                  <a:pt x="775112" y="1684020"/>
                </a:lnTo>
                <a:lnTo>
                  <a:pt x="768731" y="1813560"/>
                </a:lnTo>
                <a:lnTo>
                  <a:pt x="758094" y="1943100"/>
                </a:lnTo>
                <a:lnTo>
                  <a:pt x="743204" y="2072640"/>
                </a:lnTo>
                <a:lnTo>
                  <a:pt x="724058" y="2202180"/>
                </a:lnTo>
                <a:lnTo>
                  <a:pt x="700659" y="2331720"/>
                </a:lnTo>
                <a:lnTo>
                  <a:pt x="673004" y="2461260"/>
                </a:lnTo>
                <a:lnTo>
                  <a:pt x="641096" y="2590800"/>
                </a:lnTo>
                <a:lnTo>
                  <a:pt x="604932" y="2720340"/>
                </a:lnTo>
                <a:lnTo>
                  <a:pt x="564515" y="2849880"/>
                </a:lnTo>
                <a:lnTo>
                  <a:pt x="519842" y="2979420"/>
                </a:lnTo>
                <a:lnTo>
                  <a:pt x="470916" y="3108960"/>
                </a:lnTo>
                <a:lnTo>
                  <a:pt x="306324" y="3108960"/>
                </a:lnTo>
                <a:lnTo>
                  <a:pt x="257397" y="2979420"/>
                </a:lnTo>
                <a:lnTo>
                  <a:pt x="212725" y="2849880"/>
                </a:lnTo>
                <a:lnTo>
                  <a:pt x="172307" y="2720340"/>
                </a:lnTo>
                <a:lnTo>
                  <a:pt x="136144" y="2590800"/>
                </a:lnTo>
                <a:lnTo>
                  <a:pt x="104235" y="2461260"/>
                </a:lnTo>
                <a:lnTo>
                  <a:pt x="76581" y="2331720"/>
                </a:lnTo>
                <a:lnTo>
                  <a:pt x="53181" y="2202180"/>
                </a:lnTo>
                <a:lnTo>
                  <a:pt x="34036" y="2072640"/>
                </a:lnTo>
                <a:lnTo>
                  <a:pt x="19145" y="1943100"/>
                </a:lnTo>
                <a:lnTo>
                  <a:pt x="8509" y="1813560"/>
                </a:lnTo>
                <a:lnTo>
                  <a:pt x="2127" y="1684020"/>
                </a:lnTo>
                <a:lnTo>
                  <a:pt x="0" y="1554480"/>
                </a:lnTo>
                <a:lnTo>
                  <a:pt x="2127" y="1424940"/>
                </a:lnTo>
                <a:lnTo>
                  <a:pt x="8509" y="1295400"/>
                </a:lnTo>
                <a:lnTo>
                  <a:pt x="19145" y="1165860"/>
                </a:lnTo>
                <a:lnTo>
                  <a:pt x="34036" y="1036320"/>
                </a:lnTo>
                <a:lnTo>
                  <a:pt x="53181" y="906780"/>
                </a:lnTo>
                <a:lnTo>
                  <a:pt x="76581" y="777240"/>
                </a:lnTo>
                <a:lnTo>
                  <a:pt x="104235" y="647700"/>
                </a:lnTo>
                <a:lnTo>
                  <a:pt x="136144" y="518160"/>
                </a:lnTo>
                <a:lnTo>
                  <a:pt x="172307" y="388620"/>
                </a:lnTo>
                <a:lnTo>
                  <a:pt x="212725" y="259080"/>
                </a:lnTo>
                <a:lnTo>
                  <a:pt x="257397" y="129540"/>
                </a:lnTo>
                <a:lnTo>
                  <a:pt x="306324" y="0"/>
                </a:lnTo>
                <a:close/>
              </a:path>
            </a:pathLst>
          </a:custGeom>
          <a:solidFill>
            <a:srgbClr val="BFE6F5"/>
          </a:solidFill>
          <a:ln w="38100">
            <a:solidFill>
              <a:srgbClr val="2A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2578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摸摸看：中間鼓鼓的、比較厚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737360"/>
            <a:ext cx="4937759" cy="4206240"/>
          </a:xfrm>
          <a:prstGeom prst="roundRect">
            <a:avLst>
              <a:gd name="adj" fmla="val 18000"/>
            </a:avLst>
          </a:prstGeom>
          <a:noFill/>
          <a:ln w="63500">
            <a:solidFill>
              <a:srgbClr val="2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92440" y="1508760"/>
            <a:ext cx="685800" cy="685800"/>
          </a:xfrm>
          <a:prstGeom prst="ellipse">
            <a:avLst/>
          </a:prstGeom>
          <a:solidFill>
            <a:srgbClr val="2F8A4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2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l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放大鏡中間厚＝凸透鏡：讓光換方向，東西看起來變大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甲班｜放大鏡偵探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放大鏡偵探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裡面有 2 支影片（點電視畫面就播放），再先猜後揭曉：字變大？景色倒過來？一直按「下一步」就好。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打開簡報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lenssh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甲班｜放大鏡尋寶</a:t>
            </a:r>
          </a:p>
        </p:txBody>
      </p:sp>
      <p:sp>
        <p:nvSpPr>
          <p:cNvPr id="5" name="Rectangle 4"/>
          <p:cNvSpPr/>
          <p:nvPr/>
        </p:nvSpPr>
        <p:spPr>
          <a:xfrm rot="21450000">
            <a:off x="877824" y="914400"/>
            <a:ext cx="4114800" cy="576072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450000">
            <a:off x="822960" y="822960"/>
            <a:ext cx="4114800" cy="5760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_treasure.png"/>
          <p:cNvPicPr>
            <a:picLocks noChangeAspect="1"/>
          </p:cNvPicPr>
          <p:nvPr/>
        </p:nvPicPr>
        <p:blipFill>
          <a:blip r:embed="rId3"/>
          <a:srcRect t="39" b="39"/>
          <a:stretch>
            <a:fillRect/>
          </a:stretch>
        </p:blipFill>
        <p:spPr>
          <a:xfrm rot="21450000">
            <a:off x="896112" y="896112"/>
            <a:ext cx="3968496" cy="56144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86868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放大鏡尋寶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1691640"/>
            <a:ext cx="5852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用放大鏡找一找，找到就打勾！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5146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🔵 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146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找到 4 個，打勾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4290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4290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🟠 進階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290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找到 8 個，勾出它是什麼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343400"/>
            <a:ext cx="5852160" cy="7498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8C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343400"/>
            <a:ext cx="173736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⭐ 挑戰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343400"/>
            <a:ext cx="393192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勾出「變大」和「厚」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534924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⚠ 放大鏡不對著太陽、不對著別人的眼睛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5669280" y="5897880"/>
            <a:ext cx="2743200" cy="658368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📄  尋寶單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decel="10000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甲班｜搶答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折射環島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52120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紅隊、藍隊搶答，答對就把這一站變成你們隊的顏色！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58368" y="3840480"/>
            <a:ext cx="3657600" cy="73152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▶  開始搶答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051560"/>
            <a:ext cx="5715000" cy="4114800"/>
          </a:xfrm>
          <a:prstGeom prst="roundRect">
            <a:avLst>
              <a:gd name="adj" fmla="val 6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_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34440"/>
            <a:ext cx="5349240" cy="3008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5166360"/>
            <a:ext cx="685800" cy="91440"/>
          </a:xfrm>
          <a:prstGeom prst="rect">
            <a:avLst/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5230368"/>
            <a:ext cx="1783080" cy="109728"/>
          </a:xfrm>
          <a:prstGeom prst="roundRect">
            <a:avLst>
              <a:gd name="adj" fmla="val 50000"/>
            </a:avLst>
          </a:prstGeom>
          <a:solidFill>
            <a:srgbClr val="22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10728655" y="457200"/>
            <a:ext cx="914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2000"/>
              </a:lnSpc>
            </a:pPr>
            <a:r>
              <a:rPr sz="1500" b="0">
                <a:solidFill>
                  <a:srgbClr val="5B6673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甲班｜小結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說說看：今天學到什麼？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放大鏡中間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0752" y="321868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37744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371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讓光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4832" y="4544568"/>
            <a:ext cx="213969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70332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換方向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70332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東西看起來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0752" y="5870448"/>
            <a:ext cx="1865376" cy="6400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2000"/>
              </a:lnSpc>
            </a:pPr>
            <a:r>
              <a:rPr sz="4200" b="1">
                <a:solidFill>
                  <a:srgbClr val="C8372D"/>
                </a:solidFill>
                <a:latin typeface="微軟正黑體"/>
                <a:ea typeface="微軟正黑體"/>
                <a:cs typeface="微軟正黑體"/>
              </a:rPr>
              <a:t>變大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029200"/>
            <a:ext cx="82295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>
                <a:solidFill>
                  <a:srgbClr val="1F2A37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下課囉！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>
                <a:solidFill>
                  <a:srgbClr val="FFE9A8"/>
                </a:solidFill>
                <a:latin typeface="微軟正黑體"/>
                <a:ea typeface="微軟正黑體"/>
                <a:cs typeface="微軟正黑體"/>
              </a:rPr>
              <a:t>今天的光線特勤隊，表現超棒。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8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